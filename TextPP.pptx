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8502" autoAdjust="0"/>
  </p:normalViewPr>
  <p:slideViewPr>
    <p:cSldViewPr snapToGrid="0">
      <p:cViewPr>
        <p:scale>
          <a:sx n="56" d="100"/>
          <a:sy n="56" d="100"/>
        </p:scale>
        <p:origin x="43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8EB68F-04AF-4D3B-BEE9-80DDBA87228A}"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C4C8C0-BE09-414C-A275-CA18C74EAB25}" type="slidenum">
              <a:rPr lang="en-US" smtClean="0"/>
              <a:t>‹#›</a:t>
            </a:fld>
            <a:endParaRPr lang="en-US"/>
          </a:p>
        </p:txBody>
      </p:sp>
    </p:spTree>
    <p:extLst>
      <p:ext uri="{BB962C8B-B14F-4D97-AF65-F5344CB8AC3E}">
        <p14:creationId xmlns:p14="http://schemas.microsoft.com/office/powerpoint/2010/main" val="2133255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our dataset, my role as the text mining analyst was to dive into the thousands of wine descriptions to find out what language separates a good wine from a great wine. I used a two-part approach first using TF-IDF analysis to identify important words for each quality tier. Then to gain more information on how </a:t>
            </a:r>
            <a:r>
              <a:rPr lang="en-US" dirty="0" err="1"/>
              <a:t>ofter</a:t>
            </a:r>
            <a:r>
              <a:rPr lang="en-US" dirty="0"/>
              <a:t> the words were used I did a word frequency analysis to show exactly how the usage of the terms change with quality. </a:t>
            </a:r>
          </a:p>
        </p:txBody>
      </p:sp>
      <p:sp>
        <p:nvSpPr>
          <p:cNvPr id="4" name="Slide Number Placeholder 3"/>
          <p:cNvSpPr>
            <a:spLocks noGrp="1"/>
          </p:cNvSpPr>
          <p:nvPr>
            <p:ph type="sldNum" sz="quarter" idx="5"/>
          </p:nvPr>
        </p:nvSpPr>
        <p:spPr/>
        <p:txBody>
          <a:bodyPr/>
          <a:lstStyle/>
          <a:p>
            <a:fld id="{ACC4C8C0-BE09-414C-A275-CA18C74EAB25}" type="slidenum">
              <a:rPr lang="en-US" smtClean="0"/>
              <a:t>1</a:t>
            </a:fld>
            <a:endParaRPr lang="en-US"/>
          </a:p>
        </p:txBody>
      </p:sp>
    </p:spTree>
    <p:extLst>
      <p:ext uri="{BB962C8B-B14F-4D97-AF65-F5344CB8AC3E}">
        <p14:creationId xmlns:p14="http://schemas.microsoft.com/office/powerpoint/2010/main" val="584367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up is the </a:t>
            </a:r>
            <a:r>
              <a:rPr lang="en-US" dirty="0" err="1"/>
              <a:t>Tf</a:t>
            </a:r>
            <a:r>
              <a:rPr lang="en-US" dirty="0"/>
              <a:t>-IDF plot which I used to find words that are uniquely important to each tier. The results of this analysis show that standard tier wines are mostly describes by their flaws like “watery”, “diluted”, and “chemical”. In contrast, elite tier wines are described with future years that the wines are suggested to be consumed. </a:t>
            </a:r>
          </a:p>
        </p:txBody>
      </p:sp>
      <p:sp>
        <p:nvSpPr>
          <p:cNvPr id="4" name="Slide Number Placeholder 3"/>
          <p:cNvSpPr>
            <a:spLocks noGrp="1"/>
          </p:cNvSpPr>
          <p:nvPr>
            <p:ph type="sldNum" sz="quarter" idx="5"/>
          </p:nvPr>
        </p:nvSpPr>
        <p:spPr/>
        <p:txBody>
          <a:bodyPr/>
          <a:lstStyle/>
          <a:p>
            <a:fld id="{ACC4C8C0-BE09-414C-A275-CA18C74EAB25}" type="slidenum">
              <a:rPr lang="en-US" smtClean="0"/>
              <a:t>2</a:t>
            </a:fld>
            <a:endParaRPr lang="en-US"/>
          </a:p>
        </p:txBody>
      </p:sp>
    </p:spTree>
    <p:extLst>
      <p:ext uri="{BB962C8B-B14F-4D97-AF65-F5344CB8AC3E}">
        <p14:creationId xmlns:p14="http://schemas.microsoft.com/office/powerpoint/2010/main" val="1786750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word frequency chart confirms the change in frequency of the words used in each tier making the overall picture clear. As you can see almost all of the elite tier wines contain years that are in the future. The blue elite tier bars are massive and even some of the premium tier wines reflect this, however none of the standard tier wines do. Standard wines are still describes mostly by their flaws. This chart confirms that </a:t>
            </a:r>
            <a:r>
              <a:rPr lang="en-US" dirty="0" err="1"/>
              <a:t>crititcs</a:t>
            </a:r>
            <a:r>
              <a:rPr lang="en-US" dirty="0"/>
              <a:t> mostly discuss the potential for wines to taste better in future years. </a:t>
            </a:r>
          </a:p>
        </p:txBody>
      </p:sp>
      <p:sp>
        <p:nvSpPr>
          <p:cNvPr id="4" name="Slide Number Placeholder 3"/>
          <p:cNvSpPr>
            <a:spLocks noGrp="1"/>
          </p:cNvSpPr>
          <p:nvPr>
            <p:ph type="sldNum" sz="quarter" idx="5"/>
          </p:nvPr>
        </p:nvSpPr>
        <p:spPr/>
        <p:txBody>
          <a:bodyPr/>
          <a:lstStyle/>
          <a:p>
            <a:fld id="{ACC4C8C0-BE09-414C-A275-CA18C74EAB25}" type="slidenum">
              <a:rPr lang="en-US" smtClean="0"/>
              <a:t>3</a:t>
            </a:fld>
            <a:endParaRPr lang="en-US"/>
          </a:p>
        </p:txBody>
      </p:sp>
    </p:spTree>
    <p:extLst>
      <p:ext uri="{BB962C8B-B14F-4D97-AF65-F5344CB8AC3E}">
        <p14:creationId xmlns:p14="http://schemas.microsoft.com/office/powerpoint/2010/main" val="758258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Aside from the years, I wanted to see if critics use more characteristic words to describe elite tier wines to get a better comparison of how the descriptions change regarding taste. The elite tier wines show to be described with a very positive sentiment overall. In addition to critics praising the elite tier wines, they also refer to characteristics that refer to specific flavors and refer to the pleasantness of drinking them.</a:t>
            </a:r>
          </a:p>
        </p:txBody>
      </p:sp>
      <p:sp>
        <p:nvSpPr>
          <p:cNvPr id="4" name="Slide Number Placeholder 3"/>
          <p:cNvSpPr>
            <a:spLocks noGrp="1"/>
          </p:cNvSpPr>
          <p:nvPr>
            <p:ph type="sldNum" sz="quarter" idx="5"/>
          </p:nvPr>
        </p:nvSpPr>
        <p:spPr/>
        <p:txBody>
          <a:bodyPr/>
          <a:lstStyle/>
          <a:p>
            <a:fld id="{ACC4C8C0-BE09-414C-A275-CA18C74EAB25}" type="slidenum">
              <a:rPr lang="en-US" smtClean="0"/>
              <a:t>4</a:t>
            </a:fld>
            <a:endParaRPr lang="en-US"/>
          </a:p>
        </p:txBody>
      </p:sp>
    </p:spTree>
    <p:extLst>
      <p:ext uri="{BB962C8B-B14F-4D97-AF65-F5344CB8AC3E}">
        <p14:creationId xmlns:p14="http://schemas.microsoft.com/office/powerpoint/2010/main" val="123415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findings from the text analysis, we’ve learned that the language of wine reviews contains differing terms based on wine quality. Elite level wines are discussed mostly by their potential to taste better at a later date and are also described positively with terms that suggest the wines more commonly have a potential spice aroma, closely bound flavors, make you want to drink more, and likely contain Conference pear aromas.</a:t>
            </a:r>
          </a:p>
        </p:txBody>
      </p:sp>
      <p:sp>
        <p:nvSpPr>
          <p:cNvPr id="4" name="Slide Number Placeholder 3"/>
          <p:cNvSpPr>
            <a:spLocks noGrp="1"/>
          </p:cNvSpPr>
          <p:nvPr>
            <p:ph type="sldNum" sz="quarter" idx="5"/>
          </p:nvPr>
        </p:nvSpPr>
        <p:spPr/>
        <p:txBody>
          <a:bodyPr/>
          <a:lstStyle/>
          <a:p>
            <a:fld id="{ACC4C8C0-BE09-414C-A275-CA18C74EAB25}" type="slidenum">
              <a:rPr lang="en-US" smtClean="0"/>
              <a:t>5</a:t>
            </a:fld>
            <a:endParaRPr lang="en-US"/>
          </a:p>
        </p:txBody>
      </p:sp>
    </p:spTree>
    <p:extLst>
      <p:ext uri="{BB962C8B-B14F-4D97-AF65-F5344CB8AC3E}">
        <p14:creationId xmlns:p14="http://schemas.microsoft.com/office/powerpoint/2010/main" val="400353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2B37-0497-A648-4756-5611A9457F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59011A-1880-1484-3B31-EFEF5B8C83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7DFD7E-0187-9BDC-ED54-0A2B41DCDB62}"/>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5" name="Footer Placeholder 4">
            <a:extLst>
              <a:ext uri="{FF2B5EF4-FFF2-40B4-BE49-F238E27FC236}">
                <a16:creationId xmlns:a16="http://schemas.microsoft.com/office/drawing/2014/main" id="{06C0BDEB-0862-2A4E-E231-15131A1FE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0C5601-DEE1-19FA-CE58-251107022B77}"/>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2183871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D4370-3874-9163-7602-BC2ED324B1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5090C2-0C1F-2D9A-777F-CD42D4993F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CACF39-1B5B-8100-D688-5D2E8CBF71F4}"/>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5" name="Footer Placeholder 4">
            <a:extLst>
              <a:ext uri="{FF2B5EF4-FFF2-40B4-BE49-F238E27FC236}">
                <a16:creationId xmlns:a16="http://schemas.microsoft.com/office/drawing/2014/main" id="{93A64932-EF16-1AA9-DC9D-2B7DD5AF0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A3CA50-47AA-B8C8-5AE2-CAC7D3DC112A}"/>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218656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A8E2C-5F30-3991-51D0-2E9154C708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AE239F-C6E7-8F0C-7A6B-82658884C4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7FB1F-E030-D6DE-9338-4667473213E6}"/>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5" name="Footer Placeholder 4">
            <a:extLst>
              <a:ext uri="{FF2B5EF4-FFF2-40B4-BE49-F238E27FC236}">
                <a16:creationId xmlns:a16="http://schemas.microsoft.com/office/drawing/2014/main" id="{285CF21C-56BF-E6B5-4D6E-1A6C5C653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ADFCB-A419-5919-0ED5-A0BA1B0C82A4}"/>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218688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D3578-1C5C-F735-00BB-A89A09F716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31A787-0C57-9F04-AC15-76E8048326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0E12CD-6FD4-A583-500D-54DE1CDFB1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008610-FC93-7479-1E50-1B0A7D7D31F5}"/>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6" name="Footer Placeholder 5">
            <a:extLst>
              <a:ext uri="{FF2B5EF4-FFF2-40B4-BE49-F238E27FC236}">
                <a16:creationId xmlns:a16="http://schemas.microsoft.com/office/drawing/2014/main" id="{C1C0FB6D-F839-1F0D-BBA4-1F5045E55F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F34C2-45A8-BFC3-BD17-2B5EBE4712B8}"/>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3262177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2C27F-84CC-0A72-6FEC-A18D963855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00F6D5-2942-6CC7-52B8-B9A60194FF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7FFC45-98B3-CF59-893D-B94C755C08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BD5F17-D680-3E31-C4A9-951600B839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905E31-EE41-AD55-702F-E43022EBF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E9593F-1F7F-89C6-CDD8-B6FE44C89367}"/>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8" name="Footer Placeholder 7">
            <a:extLst>
              <a:ext uri="{FF2B5EF4-FFF2-40B4-BE49-F238E27FC236}">
                <a16:creationId xmlns:a16="http://schemas.microsoft.com/office/drawing/2014/main" id="{E951A775-3A00-CA10-534D-B5A733B169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079015-F515-4FB9-3FD2-1B4D057BD263}"/>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1298526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44972-F5BE-0C06-9267-C5760EAB68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BDCB52-4964-3A8C-4A59-E819019ADD88}"/>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4" name="Footer Placeholder 3">
            <a:extLst>
              <a:ext uri="{FF2B5EF4-FFF2-40B4-BE49-F238E27FC236}">
                <a16:creationId xmlns:a16="http://schemas.microsoft.com/office/drawing/2014/main" id="{D6D9C183-F877-01C6-5210-F0A565763B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1BA72-01B0-9CA2-5A25-8AE21783A9C2}"/>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3441937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DDF270-4A2B-09CE-857B-108B4A6EB333}"/>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3" name="Footer Placeholder 2">
            <a:extLst>
              <a:ext uri="{FF2B5EF4-FFF2-40B4-BE49-F238E27FC236}">
                <a16:creationId xmlns:a16="http://schemas.microsoft.com/office/drawing/2014/main" id="{62C3D6AA-A9F8-CCFE-2ADA-42FDFF90C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C34E9C-1C9F-2341-C6DD-E94D3794CE2F}"/>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3941035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E5D9-18F4-2581-E8BE-CBE4E57E1A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25E39B-CF29-02EB-8B46-58879DDCC1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1AEBDC-EF4C-35C0-AEA4-F2F1A9910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15BD0-692D-6802-7968-13B6D33F63F5}"/>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6" name="Footer Placeholder 5">
            <a:extLst>
              <a:ext uri="{FF2B5EF4-FFF2-40B4-BE49-F238E27FC236}">
                <a16:creationId xmlns:a16="http://schemas.microsoft.com/office/drawing/2014/main" id="{C0F3DE9B-2D9E-3CF6-531E-8D66C1D26D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320F29-F387-FD5B-65FB-CA4553DC632E}"/>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232631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F8A09-4450-E852-219B-7AC12397B4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5EC180-87D1-F1D2-EFB8-14F18D5C3F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11968F-2461-CF22-A75B-1C88A1A4F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F79E5A-B33D-4833-6523-1B8DF32FF547}"/>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6" name="Footer Placeholder 5">
            <a:extLst>
              <a:ext uri="{FF2B5EF4-FFF2-40B4-BE49-F238E27FC236}">
                <a16:creationId xmlns:a16="http://schemas.microsoft.com/office/drawing/2014/main" id="{6AA1B227-D03A-079C-C19C-B4E48E168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0356A-C2F4-70FA-B216-BDD3CE28105A}"/>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3603843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B9873-2F29-B7FA-5850-804E15A6BB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83715F-92D8-B1D1-00A8-1FB035778E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3D491-33AC-EC3B-0F8A-F2496046C8E5}"/>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5" name="Footer Placeholder 4">
            <a:extLst>
              <a:ext uri="{FF2B5EF4-FFF2-40B4-BE49-F238E27FC236}">
                <a16:creationId xmlns:a16="http://schemas.microsoft.com/office/drawing/2014/main" id="{13D1A1E7-313F-97AD-92E8-C5936E0E7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50953-51B6-AF3C-556F-8837901AC49C}"/>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4161884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8F3A1F-7C35-AB7A-4C7E-D688C4F5A1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01D21A-1B9C-E70D-CCF2-D120FAF1D8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35E05-56F8-D93B-C919-65FA3E90A312}"/>
              </a:ext>
            </a:extLst>
          </p:cNvPr>
          <p:cNvSpPr>
            <a:spLocks noGrp="1"/>
          </p:cNvSpPr>
          <p:nvPr>
            <p:ph type="dt" sz="half" idx="10"/>
          </p:nvPr>
        </p:nvSpPr>
        <p:spPr/>
        <p:txBody>
          <a:bodyPr/>
          <a:lstStyle/>
          <a:p>
            <a:fld id="{A7747881-2BB7-4D53-BF30-C43B8AE31978}" type="datetimeFigureOut">
              <a:rPr lang="en-US" smtClean="0"/>
              <a:t>11/28/2025</a:t>
            </a:fld>
            <a:endParaRPr lang="en-US"/>
          </a:p>
        </p:txBody>
      </p:sp>
      <p:sp>
        <p:nvSpPr>
          <p:cNvPr id="5" name="Footer Placeholder 4">
            <a:extLst>
              <a:ext uri="{FF2B5EF4-FFF2-40B4-BE49-F238E27FC236}">
                <a16:creationId xmlns:a16="http://schemas.microsoft.com/office/drawing/2014/main" id="{0B34CDF8-B009-E889-E16C-2E358D518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6A3D5-85F6-ABAE-0C8E-B3D07B6FA38C}"/>
              </a:ext>
            </a:extLst>
          </p:cNvPr>
          <p:cNvSpPr>
            <a:spLocks noGrp="1"/>
          </p:cNvSpPr>
          <p:nvPr>
            <p:ph type="sldNum" sz="quarter" idx="12"/>
          </p:nvPr>
        </p:nvSpPr>
        <p:spPr/>
        <p:txBody>
          <a:bodyPr/>
          <a:lstStyle/>
          <a:p>
            <a:fld id="{E525C2EE-5E32-48DE-8429-76F2445660B3}" type="slidenum">
              <a:rPr lang="en-US" smtClean="0"/>
              <a:t>‹#›</a:t>
            </a:fld>
            <a:endParaRPr lang="en-US"/>
          </a:p>
        </p:txBody>
      </p:sp>
    </p:spTree>
    <p:extLst>
      <p:ext uri="{BB962C8B-B14F-4D97-AF65-F5344CB8AC3E}">
        <p14:creationId xmlns:p14="http://schemas.microsoft.com/office/powerpoint/2010/main" val="1850662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7A11DA-50A6-E0FA-36C7-5013174423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E9F9CD-14FB-DC94-9377-DC379D7253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9FD672-EFE6-A162-3F49-936DA83CD5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747881-2BB7-4D53-BF30-C43B8AE31978}" type="datetimeFigureOut">
              <a:rPr lang="en-US" smtClean="0"/>
              <a:t>11/28/2025</a:t>
            </a:fld>
            <a:endParaRPr lang="en-US"/>
          </a:p>
        </p:txBody>
      </p:sp>
      <p:sp>
        <p:nvSpPr>
          <p:cNvPr id="5" name="Footer Placeholder 4">
            <a:extLst>
              <a:ext uri="{FF2B5EF4-FFF2-40B4-BE49-F238E27FC236}">
                <a16:creationId xmlns:a16="http://schemas.microsoft.com/office/drawing/2014/main" id="{DD13526E-4609-C5C9-8E42-5328F5A928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68FD490-DC77-4864-503A-D76ED2CD27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25C2EE-5E32-48DE-8429-76F2445660B3}" type="slidenum">
              <a:rPr lang="en-US" smtClean="0"/>
              <a:t>‹#›</a:t>
            </a:fld>
            <a:endParaRPr lang="en-US"/>
          </a:p>
        </p:txBody>
      </p:sp>
    </p:spTree>
    <p:extLst>
      <p:ext uri="{BB962C8B-B14F-4D97-AF65-F5344CB8AC3E}">
        <p14:creationId xmlns:p14="http://schemas.microsoft.com/office/powerpoint/2010/main" val="506158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9A811D-B0C0-00A9-2776-841F3DA4354A}"/>
              </a:ext>
            </a:extLst>
          </p:cNvPr>
          <p:cNvSpPr>
            <a:spLocks noGrp="1"/>
          </p:cNvSpPr>
          <p:nvPr>
            <p:ph type="title"/>
          </p:nvPr>
        </p:nvSpPr>
        <p:spPr/>
        <p:txBody>
          <a:bodyPr/>
          <a:lstStyle/>
          <a:p>
            <a:pPr algn="ctr"/>
            <a:r>
              <a:rPr lang="en-US" dirty="0"/>
              <a:t>Insights from Text</a:t>
            </a:r>
          </a:p>
        </p:txBody>
      </p:sp>
      <p:sp>
        <p:nvSpPr>
          <p:cNvPr id="5" name="Content Placeholder 4">
            <a:extLst>
              <a:ext uri="{FF2B5EF4-FFF2-40B4-BE49-F238E27FC236}">
                <a16:creationId xmlns:a16="http://schemas.microsoft.com/office/drawing/2014/main" id="{19599EEE-6919-2218-2053-4E35C8ABE445}"/>
              </a:ext>
            </a:extLst>
          </p:cNvPr>
          <p:cNvSpPr>
            <a:spLocks noGrp="1"/>
          </p:cNvSpPr>
          <p:nvPr>
            <p:ph sz="half" idx="1"/>
          </p:nvPr>
        </p:nvSpPr>
        <p:spPr>
          <a:xfrm>
            <a:off x="287407" y="1825625"/>
            <a:ext cx="5181600" cy="4351338"/>
          </a:xfrm>
        </p:spPr>
        <p:txBody>
          <a:bodyPr/>
          <a:lstStyle/>
          <a:p>
            <a:pPr marL="0" indent="0" algn="ctr">
              <a:buNone/>
            </a:pPr>
            <a:r>
              <a:rPr lang="en-US" dirty="0"/>
              <a:t>TF-IDF Analysis</a:t>
            </a:r>
          </a:p>
        </p:txBody>
      </p:sp>
      <p:sp>
        <p:nvSpPr>
          <p:cNvPr id="6" name="Content Placeholder 5">
            <a:extLst>
              <a:ext uri="{FF2B5EF4-FFF2-40B4-BE49-F238E27FC236}">
                <a16:creationId xmlns:a16="http://schemas.microsoft.com/office/drawing/2014/main" id="{0FC63458-341C-0E4C-9496-5F690C2B19B8}"/>
              </a:ext>
            </a:extLst>
          </p:cNvPr>
          <p:cNvSpPr>
            <a:spLocks noGrp="1"/>
          </p:cNvSpPr>
          <p:nvPr>
            <p:ph sz="half" idx="2"/>
          </p:nvPr>
        </p:nvSpPr>
        <p:spPr>
          <a:xfrm>
            <a:off x="6543467" y="1825625"/>
            <a:ext cx="5181600" cy="4351338"/>
          </a:xfrm>
        </p:spPr>
        <p:txBody>
          <a:bodyPr/>
          <a:lstStyle/>
          <a:p>
            <a:pPr marL="0" indent="0" algn="ctr">
              <a:buNone/>
            </a:pPr>
            <a:r>
              <a:rPr lang="en-US" dirty="0"/>
              <a:t>Word Frequency Analysis</a:t>
            </a:r>
          </a:p>
        </p:txBody>
      </p:sp>
      <p:pic>
        <p:nvPicPr>
          <p:cNvPr id="1028" name="Picture 4" descr="TF-IDF Defined - KDnuggets">
            <a:extLst>
              <a:ext uri="{FF2B5EF4-FFF2-40B4-BE49-F238E27FC236}">
                <a16:creationId xmlns:a16="http://schemas.microsoft.com/office/drawing/2014/main" id="{39BE3F65-2717-FE92-EC89-B04AAF4BA5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166" y="2675420"/>
            <a:ext cx="5438082" cy="30429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ext mining and word cloud fundamentals in R : 5 simple steps you should  know | R-bloggers">
            <a:extLst>
              <a:ext uri="{FF2B5EF4-FFF2-40B4-BE49-F238E27FC236}">
                <a16:creationId xmlns:a16="http://schemas.microsoft.com/office/drawing/2014/main" id="{3BE4CD08-BE1C-6E49-F883-C7C3C67A1D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4735" y="2348650"/>
            <a:ext cx="4439065" cy="3696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483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5DEB0-1517-A833-F0E4-D209150C4655}"/>
              </a:ext>
            </a:extLst>
          </p:cNvPr>
          <p:cNvSpPr>
            <a:spLocks noGrp="1"/>
          </p:cNvSpPr>
          <p:nvPr>
            <p:ph type="title"/>
          </p:nvPr>
        </p:nvSpPr>
        <p:spPr/>
        <p:txBody>
          <a:bodyPr/>
          <a:lstStyle/>
          <a:p>
            <a:pPr algn="ctr"/>
            <a:r>
              <a:rPr lang="en-US" dirty="0"/>
              <a:t>TF-IDF Analysis</a:t>
            </a:r>
          </a:p>
        </p:txBody>
      </p:sp>
      <p:pic>
        <p:nvPicPr>
          <p:cNvPr id="7" name="Content Placeholder 6" descr="A graph of a bar chart&#10;&#10;AI-generated content may be incorrect.">
            <a:extLst>
              <a:ext uri="{FF2B5EF4-FFF2-40B4-BE49-F238E27FC236}">
                <a16:creationId xmlns:a16="http://schemas.microsoft.com/office/drawing/2014/main" id="{7DD23655-E1E8-AE9C-E6AC-32100793C52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1242" y="1310185"/>
            <a:ext cx="11809515" cy="5182690"/>
          </a:xfrm>
        </p:spPr>
      </p:pic>
    </p:spTree>
    <p:extLst>
      <p:ext uri="{BB962C8B-B14F-4D97-AF65-F5344CB8AC3E}">
        <p14:creationId xmlns:p14="http://schemas.microsoft.com/office/powerpoint/2010/main" val="741835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72A40-4100-A3DC-C1BE-48B5DA4865F5}"/>
              </a:ext>
            </a:extLst>
          </p:cNvPr>
          <p:cNvSpPr>
            <a:spLocks noGrp="1"/>
          </p:cNvSpPr>
          <p:nvPr>
            <p:ph type="title"/>
          </p:nvPr>
        </p:nvSpPr>
        <p:spPr/>
        <p:txBody>
          <a:bodyPr/>
          <a:lstStyle/>
          <a:p>
            <a:pPr algn="ctr"/>
            <a:r>
              <a:rPr lang="en-US" dirty="0"/>
              <a:t>Aging Potential </a:t>
            </a:r>
          </a:p>
        </p:txBody>
      </p:sp>
      <p:pic>
        <p:nvPicPr>
          <p:cNvPr id="5" name="Content Placeholder 4" descr="A screenshot of a graph&#10;&#10;AI-generated content may be incorrect.">
            <a:extLst>
              <a:ext uri="{FF2B5EF4-FFF2-40B4-BE49-F238E27FC236}">
                <a16:creationId xmlns:a16="http://schemas.microsoft.com/office/drawing/2014/main" id="{68A34B2D-D7B7-469C-542B-AD6E4678CEA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046" y="1255594"/>
            <a:ext cx="11933908" cy="5237281"/>
          </a:xfrm>
        </p:spPr>
      </p:pic>
    </p:spTree>
    <p:extLst>
      <p:ext uri="{BB962C8B-B14F-4D97-AF65-F5344CB8AC3E}">
        <p14:creationId xmlns:p14="http://schemas.microsoft.com/office/powerpoint/2010/main" val="1069206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E7376-D6DB-F860-8460-A277D46A56E1}"/>
              </a:ext>
            </a:extLst>
          </p:cNvPr>
          <p:cNvSpPr>
            <a:spLocks noGrp="1"/>
          </p:cNvSpPr>
          <p:nvPr>
            <p:ph type="title"/>
          </p:nvPr>
        </p:nvSpPr>
        <p:spPr/>
        <p:txBody>
          <a:bodyPr/>
          <a:lstStyle/>
          <a:p>
            <a:pPr algn="ctr"/>
            <a:r>
              <a:rPr lang="en-US" dirty="0"/>
              <a:t>Looking Past Aging</a:t>
            </a:r>
          </a:p>
        </p:txBody>
      </p:sp>
      <p:pic>
        <p:nvPicPr>
          <p:cNvPr id="5" name="Content Placeholder 4" descr="A chart of different colored squares&#10;&#10;AI-generated content may be incorrect.">
            <a:extLst>
              <a:ext uri="{FF2B5EF4-FFF2-40B4-BE49-F238E27FC236}">
                <a16:creationId xmlns:a16="http://schemas.microsoft.com/office/drawing/2014/main" id="{3AB82FB3-6357-DF67-8DF1-FAE347F851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2830" y="1276470"/>
            <a:ext cx="11886339" cy="5216405"/>
          </a:xfrm>
        </p:spPr>
      </p:pic>
    </p:spTree>
    <p:extLst>
      <p:ext uri="{BB962C8B-B14F-4D97-AF65-F5344CB8AC3E}">
        <p14:creationId xmlns:p14="http://schemas.microsoft.com/office/powerpoint/2010/main" val="2266961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E3F2D-D2C1-6152-2E80-DD0ED2BCFD48}"/>
              </a:ext>
            </a:extLst>
          </p:cNvPr>
          <p:cNvSpPr>
            <a:spLocks noGrp="1"/>
          </p:cNvSpPr>
          <p:nvPr>
            <p:ph type="title"/>
          </p:nvPr>
        </p:nvSpPr>
        <p:spPr/>
        <p:txBody>
          <a:bodyPr/>
          <a:lstStyle/>
          <a:p>
            <a:pPr algn="ctr"/>
            <a:r>
              <a:rPr lang="en-US" dirty="0"/>
              <a:t>Summary of Text Findings</a:t>
            </a:r>
          </a:p>
        </p:txBody>
      </p:sp>
      <p:sp>
        <p:nvSpPr>
          <p:cNvPr id="6" name="Content Placeholder 5">
            <a:extLst>
              <a:ext uri="{FF2B5EF4-FFF2-40B4-BE49-F238E27FC236}">
                <a16:creationId xmlns:a16="http://schemas.microsoft.com/office/drawing/2014/main" id="{E768255C-58E6-45F6-FD46-CC9ADD5FDACA}"/>
              </a:ext>
            </a:extLst>
          </p:cNvPr>
          <p:cNvSpPr>
            <a:spLocks noGrp="1"/>
          </p:cNvSpPr>
          <p:nvPr>
            <p:ph idx="1"/>
          </p:nvPr>
        </p:nvSpPr>
        <p:spPr/>
        <p:txBody>
          <a:bodyPr/>
          <a:lstStyle/>
          <a:p>
            <a:r>
              <a:rPr lang="en-US" dirty="0"/>
              <a:t>Elite level wines are discussed mostly regarding their aging potential. The high prevalence of future years in the data signify when they will reach their peak for consumption. </a:t>
            </a:r>
          </a:p>
          <a:p>
            <a:r>
              <a:rPr lang="en-US" dirty="0"/>
              <a:t>Beyond aging potential, Elite level wines are described using adjectives like “mace”, “moreish”, “coiled”, and “conference”. </a:t>
            </a:r>
          </a:p>
        </p:txBody>
      </p:sp>
    </p:spTree>
    <p:extLst>
      <p:ext uri="{BB962C8B-B14F-4D97-AF65-F5344CB8AC3E}">
        <p14:creationId xmlns:p14="http://schemas.microsoft.com/office/powerpoint/2010/main" val="4072019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3374</TotalTime>
  <Words>484</Words>
  <Application>Microsoft Office PowerPoint</Application>
  <PresentationFormat>Widescreen</PresentationFormat>
  <Paragraphs>19</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Insights from Text</vt:lpstr>
      <vt:lpstr>TF-IDF Analysis</vt:lpstr>
      <vt:lpstr>Aging Potential </vt:lpstr>
      <vt:lpstr>Looking Past Aging</vt:lpstr>
      <vt:lpstr>Summary of Text 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Jesse Simmons</dc:creator>
  <cp:lastModifiedBy>Jesse Simmons</cp:lastModifiedBy>
  <cp:revision>3</cp:revision>
  <dcterms:created xsi:type="dcterms:W3CDTF">2025-11-28T16:53:42Z</dcterms:created>
  <dcterms:modified xsi:type="dcterms:W3CDTF">2025-12-01T01:08:12Z</dcterms:modified>
</cp:coreProperties>
</file>